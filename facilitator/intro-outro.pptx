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46f7a3ca224879" /><Relationship Type="http://schemas.openxmlformats.org/officeDocument/2006/relationships/extended-properties" Target="/docProps/app.xml" Id="R6e867c82c1634ed2" /><Relationship Type="http://schemas.openxmlformats.org/officeDocument/2006/relationships/officeDocument" Target="/ppt/presentation.xml" Id="Rbb35767eb1b749bb" /></Relationships>
</file>

<file path=ppt/presentation.xml><?xml version="1.0" encoding="utf-8"?>
<p:presentation xmlns:p="http://schemas.openxmlformats.org/presentationml/2006/main">
  <p:sldMasterIdLst>
    <p:sldMasterId xmlns:r="http://schemas.openxmlformats.org/officeDocument/2006/relationships" id="2147483648" r:id="R1a83e9c150814c58"/>
  </p:sldMasterIdLst>
  <p:notesMasterIdLst>
    <p:notesMasterId xmlns:r="http://schemas.openxmlformats.org/officeDocument/2006/relationships" r:id="Ra4aaba409f5742a9"/>
  </p:notesMasterIdLst>
  <p:sldIdLst>
    <p:sldId xmlns:r="http://schemas.openxmlformats.org/officeDocument/2006/relationships" id="256" r:id="Rc5f84e0fdc5249da"/>
    <p:sldId xmlns:r="http://schemas.openxmlformats.org/officeDocument/2006/relationships" id="257" r:id="Re299aabb67bd4a4a"/>
    <p:sldId xmlns:r="http://schemas.openxmlformats.org/officeDocument/2006/relationships" id="258" r:id="R59e897188d53495a"/>
    <p:sldId xmlns:r="http://schemas.openxmlformats.org/officeDocument/2006/relationships" id="259" r:id="Rd1dfd5e958a24d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71d9b62d894d0f" /><Relationship Type="http://schemas.openxmlformats.org/officeDocument/2006/relationships/slideMaster" Target="/ppt/slideMasters/slideMaster1.xml" Id="R1a83e9c150814c58" /><Relationship Type="http://schemas.openxmlformats.org/officeDocument/2006/relationships/notesMaster" Target="/ppt/notesMasters/notesMaster1.xml" Id="Ra4aaba409f5742a9" /><Relationship Type="http://schemas.openxmlformats.org/officeDocument/2006/relationships/presProps" Target="/ppt/presProps.xml" Id="Re00d75d5c710414b" /><Relationship Type="http://schemas.openxmlformats.org/officeDocument/2006/relationships/tableStyles" Target="/ppt/tableStyles.xml" Id="R1e57c2a011b84950" /><Relationship Type="http://schemas.openxmlformats.org/officeDocument/2006/relationships/slide" Target="/ppt/slides/slide1.xml" Id="Rc5f84e0fdc5249da" /><Relationship Type="http://schemas.openxmlformats.org/officeDocument/2006/relationships/slide" Target="/ppt/slides/slide2.xml" Id="Re299aabb67bd4a4a" /><Relationship Type="http://schemas.openxmlformats.org/officeDocument/2006/relationships/slide" Target="/ppt/slides/slide3.xml" Id="R59e897188d53495a" /><Relationship Type="http://schemas.openxmlformats.org/officeDocument/2006/relationships/slide" Target="/ppt/slides/slide4.xml" Id="Rd1dfd5e958a24d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c5c3fc92654d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93303a6fdf4c8c" /><Relationship Type="http://schemas.openxmlformats.org/officeDocument/2006/relationships/notesMaster" Target="/ppt/notesMasters/notesMaster1.xml" Id="Rbaea93b7502f41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b41def3cdd45fe" /><Relationship Type="http://schemas.openxmlformats.org/officeDocument/2006/relationships/notesMaster" Target="/ppt/notesMasters/notesMaster1.xml" Id="R6a431ae4f2db41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69c0e95b87468c" /><Relationship Type="http://schemas.openxmlformats.org/officeDocument/2006/relationships/notesMaster" Target="/ppt/notesMasters/notesMaster1.xml" Id="Rd033266da18545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7cc0ef7dd64b51" /><Relationship Type="http://schemas.openxmlformats.org/officeDocument/2006/relationships/notesMaster" Target="/ppt/notesMasters/notesMaster1.xml" Id="R7eb3af6d2e7349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yourselves briefly. Invite selected participants to introduce themselves, with the option to pass. Use the participant-number random demo from the facilitator guide. Source: workshop build plans. Logo: user-supplied eServices-MISA/MISA-Website/public/logo/misa-mark.svg.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final quiz live. Clarify that it is a playful conversation starter, not a validated personality assessment. Show one question a student could customize. Source: original workshop quiz and build plans.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website for setup and all instruction. Point out the help, recovery, and Colab links. Save and commit before switching reference branches. Source: workshop setup and recovery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for closing. Invite students to share their work with friends, organizations, Yani, or Gabe. Open the Keep building guide for further exercises and GitHub publishing. No joining link is invented. Source: workshop build plans.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941f6f808348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708f2b4cda4930" /><Relationship Type="http://schemas.openxmlformats.org/officeDocument/2006/relationships/slideLayout" Target="/ppt/slideLayouts/slideLayout1.xml" Id="Rcf3daaedda9844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3daaedda9844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e698dd6e5c4e21" /><Relationship Type="http://schemas.openxmlformats.org/officeDocument/2006/relationships/image" Target="/ppt/media/image.png" Id="R14b6034fa19f4950" /><Relationship Type="http://schemas.openxmlformats.org/officeDocument/2006/relationships/image" Target="/ppt/media/image.svg" Id="R3ef7749d8e6f4414" /><Relationship Type="http://schemas.openxmlformats.org/officeDocument/2006/relationships/notesSlide" Target="/ppt/notesSlides/notesSlide1.xml" Id="R1fdd03ccc75740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1e280354fa449e" /><Relationship Type="http://schemas.openxmlformats.org/officeDocument/2006/relationships/notesSlide" Target="/ppt/notesSlides/notesSlide2.xml" Id="Rf31852dfd6ce4a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0fbe399bf604a36" /><Relationship Type="http://schemas.openxmlformats.org/officeDocument/2006/relationships/notesSlide" Target="/ppt/notesSlides/notesSlide3.xml" Id="Rba4d5121fd2b4a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6df76f07254cc6" /><Relationship Type="http://schemas.openxmlformats.org/officeDocument/2006/relationships/notesSlide" Target="/ppt/notesSlides/notesSlide4.xml" Id="Rf1a9e9e0744547cd" /></Relationships>
</file>

<file path=ppt/slides/slide1.xml><?xml version="1.0" encoding="utf-8"?>
<p:sld xmlns:p="http://schemas.openxmlformats.org/presentationml/2006/main">
  <p:cSld>
    <p:bg>
      <p:bgPr>
        <a:solidFill xmlns:a="http://schemas.openxmlformats.org/drawingml/2006/main">
          <a:srgbClr val="E7F6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116161-0080-4E47-891E-1BD2908682FD}"/>
              </a:ext>
            </a:extLst>
          </p:cNvPr>
          <p:cNvSpPr>
            <a:spLocks xmlns:a="http://schemas.openxmlformats.org/drawingml/2006/main" noGrp="1"/>
          </p:cNvSpPr>
          <p:nvPr/>
        </p:nvSpPr>
        <p:spPr>
          <a:xfrm xmlns:a="http://schemas.openxmlformats.org/drawingml/2006/main">
            <a:off x="685800" y="5238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A80"/>
                </a:solidFill>
                <a:latin typeface="Helvetica Neue"/>
                <a:ea typeface="Helvetica Neue"/>
                <a:cs typeface="Helvetica Neue"/>
              </a:defRPr>
            </a:pPr>
            <a:r>
              <a:rPr sz="1650" b="1">
                <a:solidFill>
                  <a:srgbClr val="087A80"/>
                </a:solidFill>
                <a:latin typeface="Helvetica Neue"/>
                <a:ea typeface="Helvetica Neue"/>
                <a:cs typeface="Helvetica Neue"/>
              </a:rPr>
              <a:t>MISA  /  PYTHON WORKSHOP</a:t>
            </a:r>
          </a:p>
        </p:txBody>
      </p:sp>
      <p:sp>
        <p:nvSpPr>
          <p:cNvPr id="2" name="">
            <a:extLst xmlns:a="http://schemas.openxmlformats.org/drawingml/2006/main">
              <a:ext uri="{FF2B5EF4-FFF2-40B4-BE49-F238E27FC236}">
                <a16:creationId xmlns:a16="http://schemas.microsoft.com/office/drawing/2014/main" id="{6C7A3058-E1CD-4786-8399-166CCC59793B}"/>
              </a:ext>
            </a:extLst>
          </p:cNvPr>
          <p:cNvSpPr>
            <a:spLocks xmlns:a="http://schemas.openxmlformats.org/drawingml/2006/main" noGrp="1"/>
          </p:cNvSpPr>
          <p:nvPr/>
        </p:nvSpPr>
        <p:spPr>
          <a:xfrm xmlns:a="http://schemas.openxmlformats.org/drawingml/2006/main">
            <a:off x="685800" y="1590675"/>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5383D"/>
                </a:solidFill>
                <a:latin typeface="Helvetica Neue"/>
                <a:ea typeface="Helvetica Neue"/>
                <a:cs typeface="Helvetica Neue"/>
              </a:defRPr>
            </a:pPr>
            <a:r>
              <a:rPr sz="4800" b="1">
                <a:solidFill>
                  <a:srgbClr val="15383D"/>
                </a:solidFill>
                <a:latin typeface="Helvetica Neue"/>
                <a:ea typeface="Helvetica Neue"/>
                <a:cs typeface="Helvetica Neue"/>
              </a:rPr>
              <a:t>Your first Python quiz</a:t>
            </a:r>
          </a:p>
        </p:txBody>
      </p:sp>
      <p:sp>
        <p:nvSpPr>
          <p:cNvPr id="3" name="">
            <a:extLst xmlns:a="http://schemas.openxmlformats.org/drawingml/2006/main">
              <a:ext uri="{FF2B5EF4-FFF2-40B4-BE49-F238E27FC236}">
                <a16:creationId xmlns:a16="http://schemas.microsoft.com/office/drawing/2014/main" id="{8A4CF6B0-83E1-426F-9D68-4E3B783B353B}"/>
              </a:ext>
            </a:extLst>
          </p:cNvPr>
          <p:cNvSpPr>
            <a:spLocks xmlns:a="http://schemas.openxmlformats.org/drawingml/2006/main" noGrp="1"/>
          </p:cNvSpPr>
          <p:nvPr/>
        </p:nvSpPr>
        <p:spPr>
          <a:xfrm xmlns:a="http://schemas.openxmlformats.org/drawingml/2006/main">
            <a:off x="685800" y="3257550"/>
            <a:ext cx="952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383D"/>
                </a:solidFill>
                <a:latin typeface="Helvetica Neue"/>
                <a:ea typeface="Helvetica Neue"/>
                <a:cs typeface="Helvetica Neue"/>
              </a:defRPr>
            </a:pPr>
            <a:r>
              <a:rPr sz="2550" b="0">
                <a:solidFill>
                  <a:srgbClr val="15383D"/>
                </a:solidFill>
                <a:latin typeface="Helvetica Neue"/>
                <a:ea typeface="Helvetica Neue"/>
                <a:cs typeface="Helvetica Neue"/>
              </a:rPr>
              <a:t>MISA Python workshop</a:t>
            </a:r>
          </a:p>
        </p:txBody>
      </p:sp>
      <p:sp>
        <p:nvSpPr>
          <p:cNvPr id="4" name="">
            <a:extLst xmlns:a="http://schemas.openxmlformats.org/drawingml/2006/main">
              <a:ext uri="{FF2B5EF4-FFF2-40B4-BE49-F238E27FC236}">
                <a16:creationId xmlns:a16="http://schemas.microsoft.com/office/drawing/2014/main" id="{61EF288D-77E8-4AEC-8262-F6E793E16277}"/>
              </a:ext>
            </a:extLst>
          </p:cNvPr>
          <p:cNvSpPr>
            <a:spLocks xmlns:a="http://schemas.openxmlformats.org/drawingml/2006/main" noGrp="1"/>
          </p:cNvSpPr>
          <p:nvPr/>
        </p:nvSpPr>
        <p:spPr>
          <a:xfrm xmlns:a="http://schemas.openxmlformats.org/drawingml/2006/main">
            <a:off x="685800" y="4114800"/>
            <a:ext cx="9525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466266"/>
                </a:solidFill>
                <a:latin typeface="Helvetica Neue"/>
                <a:ea typeface="Helvetica Neue"/>
                <a:cs typeface="Helvetica Neue"/>
              </a:defRPr>
            </a:pPr>
            <a:r>
              <a:rPr sz="2175" b="0">
                <a:solidFill>
                  <a:srgbClr val="466266"/>
                </a:solidFill>
                <a:latin typeface="Helvetica Neue"/>
                <a:ea typeface="Helvetica Neue"/>
                <a:cs typeface="Helvetica Neue"/>
              </a:rPr>
              <a:t>With Yani, Gabe, and the MISA helpers.</a:t>
            </a:r>
          </a:p>
        </p:txBody>
      </p:sp>
      <p:sp>
        <p:nvSpPr>
          <p:cNvPr id="5" name="">
            <a:extLst xmlns:a="http://schemas.openxmlformats.org/drawingml/2006/main">
              <a:ext uri="{FF2B5EF4-FFF2-40B4-BE49-F238E27FC236}">
                <a16:creationId xmlns:a16="http://schemas.microsoft.com/office/drawing/2014/main" id="{DBB3EF73-8C3B-4177-9F41-9D9BDD4F7908}"/>
              </a:ext>
            </a:extLst>
          </p:cNvPr>
          <p:cNvSpPr>
            <a:spLocks xmlns:a="http://schemas.openxmlformats.org/drawingml/2006/main" noGrp="1"/>
          </p:cNvSpPr>
          <p:nvPr/>
        </p:nvSpPr>
        <p:spPr>
          <a:xfrm xmlns:a="http://schemas.openxmlformats.org/drawingml/2006/main">
            <a:off x="10668000" y="6143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66266"/>
                </a:solidFill>
                <a:latin typeface="Helvetica Neue"/>
                <a:ea typeface="Helvetica Neue"/>
                <a:cs typeface="Helvetica Neue"/>
              </a:defRPr>
            </a:pPr>
            <a:r>
              <a:rPr sz="1350" b="0">
                <a:solidFill>
                  <a:srgbClr val="466266"/>
                </a:solidFill>
                <a:latin typeface="Helvetica Neue"/>
                <a:ea typeface="Helvetica Neue"/>
                <a:cs typeface="Helvetica Neue"/>
              </a:rPr>
              <a:t>1 / 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4b6034fa19f4950">
            <a:extLst>
              <a:ext uri="{96DAC541-7B7A-43D3-8B79-37D633B846F1}">
                <asvg:svgBlip xmlns:asvg="http://schemas.microsoft.com/office/drawing/2016/SVG/main" r:embed="R3ef7749d8e6f4414"/>
              </a:ext>
            </a:extLst>
          </a:blip>
          <a:stretch xmlns:a="http://schemas.openxmlformats.org/drawingml/2006/main"/>
        </p:blipFill>
        <p:spPr>
          <a:xfrm xmlns:a="http://schemas.openxmlformats.org/drawingml/2006/main">
            <a:off x="10477500" y="476250"/>
            <a:ext cx="857250" cy="571500"/>
          </a:xfrm>
          <a:prstGeom xmlns:a="http://schemas.openxmlformats.org/drawingml/2006/main" prst="rect">
            <a:avLst/>
          </a:prstGeom>
        </p:spPr>
      </p:pic>
    </p:spTree>
    <p:extLst>
      <p:ext uri="{BB962C8B-B14F-4D97-AF65-F5344CB8AC3E}">
        <p14:creationId xmlns:p14="http://schemas.microsoft.com/office/powerpoint/2010/main" val="16467052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990F48-612B-41F7-ABA2-FF36D818AD96}"/>
              </a:ext>
            </a:extLst>
          </p:cNvPr>
          <p:cNvSpPr>
            <a:spLocks xmlns:a="http://schemas.openxmlformats.org/drawingml/2006/main" noGrp="1"/>
          </p:cNvSpPr>
          <p:nvPr/>
        </p:nvSpPr>
        <p:spPr>
          <a:xfrm xmlns:a="http://schemas.openxmlformats.org/drawingml/2006/main">
            <a:off x="685800" y="5238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A80"/>
                </a:solidFill>
                <a:latin typeface="Helvetica Neue"/>
                <a:ea typeface="Helvetica Neue"/>
                <a:cs typeface="Helvetica Neue"/>
              </a:defRPr>
            </a:pPr>
            <a:r>
              <a:rPr sz="1650" b="1">
                <a:solidFill>
                  <a:srgbClr val="087A80"/>
                </a:solidFill>
                <a:latin typeface="Helvetica Neue"/>
                <a:ea typeface="Helvetica Neue"/>
                <a:cs typeface="Helvetica Neue"/>
              </a:rPr>
              <a:t>MISA  /  PYTHON WORKSHOP</a:t>
            </a:r>
          </a:p>
        </p:txBody>
      </p:sp>
      <p:sp>
        <p:nvSpPr>
          <p:cNvPr id="2" name="">
            <a:extLst xmlns:a="http://schemas.openxmlformats.org/drawingml/2006/main">
              <a:ext uri="{FF2B5EF4-FFF2-40B4-BE49-F238E27FC236}">
                <a16:creationId xmlns:a16="http://schemas.microsoft.com/office/drawing/2014/main" id="{77E3A8E1-02AA-4B53-BD70-083B8549A54F}"/>
              </a:ext>
            </a:extLst>
          </p:cNvPr>
          <p:cNvSpPr>
            <a:spLocks xmlns:a="http://schemas.openxmlformats.org/drawingml/2006/main" noGrp="1"/>
          </p:cNvSpPr>
          <p:nvPr/>
        </p:nvSpPr>
        <p:spPr>
          <a:xfrm xmlns:a="http://schemas.openxmlformats.org/drawingml/2006/main">
            <a:off x="685800" y="1590675"/>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5383D"/>
                </a:solidFill>
                <a:latin typeface="Helvetica Neue"/>
                <a:ea typeface="Helvetica Neue"/>
                <a:cs typeface="Helvetica Neue"/>
              </a:defRPr>
            </a:pPr>
            <a:r>
              <a:rPr sz="4800" b="1">
                <a:solidFill>
                  <a:srgbClr val="15383D"/>
                </a:solidFill>
                <a:latin typeface="Helvetica Neue"/>
                <a:ea typeface="Helvetica Neue"/>
                <a:cs typeface="Helvetica Neue"/>
              </a:rPr>
              <a:t>A quiz you can change</a:t>
            </a:r>
          </a:p>
        </p:txBody>
      </p:sp>
      <p:sp>
        <p:nvSpPr>
          <p:cNvPr id="3" name="">
            <a:extLst xmlns:a="http://schemas.openxmlformats.org/drawingml/2006/main">
              <a:ext uri="{FF2B5EF4-FFF2-40B4-BE49-F238E27FC236}">
                <a16:creationId xmlns:a16="http://schemas.microsoft.com/office/drawing/2014/main" id="{6951A0D7-B635-4BF0-8AB4-041C8D43CA98}"/>
              </a:ext>
            </a:extLst>
          </p:cNvPr>
          <p:cNvSpPr>
            <a:spLocks xmlns:a="http://schemas.openxmlformats.org/drawingml/2006/main" noGrp="1"/>
          </p:cNvSpPr>
          <p:nvPr/>
        </p:nvSpPr>
        <p:spPr>
          <a:xfrm xmlns:a="http://schemas.openxmlformats.org/drawingml/2006/main">
            <a:off x="685800" y="3257550"/>
            <a:ext cx="952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383D"/>
                </a:solidFill>
                <a:latin typeface="Helvetica Neue"/>
                <a:ea typeface="Helvetica Neue"/>
                <a:cs typeface="Helvetica Neue"/>
              </a:defRPr>
            </a:pPr>
            <a:r>
              <a:rPr sz="2550" b="0">
                <a:solidFill>
                  <a:srgbClr val="15383D"/>
                </a:solidFill>
                <a:latin typeface="Helvetica Neue"/>
                <a:ea typeface="Helvetica Neue"/>
                <a:cs typeface="Helvetica Neue"/>
              </a:rPr>
              <a:t>Seven questions about what you enjoy doing.</a:t>
            </a:r>
          </a:p>
        </p:txBody>
      </p:sp>
      <p:sp>
        <p:nvSpPr>
          <p:cNvPr id="4" name="">
            <a:extLst xmlns:a="http://schemas.openxmlformats.org/drawingml/2006/main">
              <a:ext uri="{FF2B5EF4-FFF2-40B4-BE49-F238E27FC236}">
                <a16:creationId xmlns:a16="http://schemas.microsoft.com/office/drawing/2014/main" id="{7A155C70-9411-4FE1-AD43-B19C4FAD8878}"/>
              </a:ext>
            </a:extLst>
          </p:cNvPr>
          <p:cNvSpPr>
            <a:spLocks xmlns:a="http://schemas.openxmlformats.org/drawingml/2006/main" noGrp="1"/>
          </p:cNvSpPr>
          <p:nvPr/>
        </p:nvSpPr>
        <p:spPr>
          <a:xfrm xmlns:a="http://schemas.openxmlformats.org/drawingml/2006/main">
            <a:off x="685800" y="4114800"/>
            <a:ext cx="9525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466266"/>
                </a:solidFill>
                <a:latin typeface="Helvetica Neue"/>
                <a:ea typeface="Helvetica Neue"/>
                <a:cs typeface="Helvetica Neue"/>
              </a:defRPr>
            </a:pPr>
            <a:r>
              <a:rPr sz="2175" b="0">
                <a:solidFill>
                  <a:srgbClr val="466266"/>
                </a:solidFill>
                <a:latin typeface="Helvetica Neue"/>
                <a:ea typeface="Helvetica Neue"/>
                <a:cs typeface="Helvetica Neue"/>
              </a:rPr>
              <a:t>Your answers earn cluster points.</a:t>
            </a:r>
          </a:p>
          <a:p xmlns:a="http://schemas.openxmlformats.org/drawingml/2006/main">
            <a:pPr>
              <a:defRPr sz="2175" b="0">
                <a:solidFill>
                  <a:srgbClr val="466266"/>
                </a:solidFill>
                <a:latin typeface="Helvetica Neue"/>
                <a:ea typeface="Helvetica Neue"/>
                <a:cs typeface="Helvetica Neue"/>
              </a:defRPr>
            </a:pPr>
            <a:r>
              <a:rPr sz="2175" b="0">
                <a:solidFill>
                  <a:srgbClr val="466266"/>
                </a:solidFill>
                <a:latin typeface="Helvetica Neue"/>
                <a:ea typeface="Helvetica Neue"/>
                <a:cs typeface="Helvetica Neue"/>
              </a:rPr>
              <a:t>Your program shows the results.</a:t>
            </a:r>
          </a:p>
        </p:txBody>
      </p:sp>
      <p:sp>
        <p:nvSpPr>
          <p:cNvPr id="5" name="">
            <a:extLst xmlns:a="http://schemas.openxmlformats.org/drawingml/2006/main">
              <a:ext uri="{FF2B5EF4-FFF2-40B4-BE49-F238E27FC236}">
                <a16:creationId xmlns:a16="http://schemas.microsoft.com/office/drawing/2014/main" id="{5269F54F-3494-4A44-B74C-45FB1607C46F}"/>
              </a:ext>
            </a:extLst>
          </p:cNvPr>
          <p:cNvSpPr>
            <a:spLocks xmlns:a="http://schemas.openxmlformats.org/drawingml/2006/main" noGrp="1"/>
          </p:cNvSpPr>
          <p:nvPr/>
        </p:nvSpPr>
        <p:spPr>
          <a:xfrm xmlns:a="http://schemas.openxmlformats.org/drawingml/2006/main">
            <a:off x="10668000" y="6143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66266"/>
                </a:solidFill>
                <a:latin typeface="Helvetica Neue"/>
                <a:ea typeface="Helvetica Neue"/>
                <a:cs typeface="Helvetica Neue"/>
              </a:defRPr>
            </a:pPr>
            <a:r>
              <a:rPr sz="1350" b="0">
                <a:solidFill>
                  <a:srgbClr val="466266"/>
                </a:solidFill>
                <a:latin typeface="Helvetica Neue"/>
                <a:ea typeface="Helvetica Neue"/>
                <a:cs typeface="Helvetica Neue"/>
              </a:rPr>
              <a:t>2 / 4</a:t>
            </a:r>
          </a:p>
        </p:txBody>
      </p:sp>
    </p:spTree>
    <p:extLst>
      <p:ext uri="{BB962C8B-B14F-4D97-AF65-F5344CB8AC3E}">
        <p14:creationId xmlns:p14="http://schemas.microsoft.com/office/powerpoint/2010/main" val="18887902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DB86ED-724D-4048-959F-5CF5F6CAD389}"/>
              </a:ext>
            </a:extLst>
          </p:cNvPr>
          <p:cNvSpPr>
            <a:spLocks xmlns:a="http://schemas.openxmlformats.org/drawingml/2006/main" noGrp="1"/>
          </p:cNvSpPr>
          <p:nvPr/>
        </p:nvSpPr>
        <p:spPr>
          <a:xfrm xmlns:a="http://schemas.openxmlformats.org/drawingml/2006/main">
            <a:off x="685800" y="5238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A80"/>
                </a:solidFill>
                <a:latin typeface="Helvetica Neue"/>
                <a:ea typeface="Helvetica Neue"/>
                <a:cs typeface="Helvetica Neue"/>
              </a:defRPr>
            </a:pPr>
            <a:r>
              <a:rPr sz="1650" b="1">
                <a:solidFill>
                  <a:srgbClr val="087A80"/>
                </a:solidFill>
                <a:latin typeface="Helvetica Neue"/>
                <a:ea typeface="Helvetica Neue"/>
                <a:cs typeface="Helvetica Neue"/>
              </a:rPr>
              <a:t>MISA  /  PYTHON WORKSHOP</a:t>
            </a:r>
          </a:p>
        </p:txBody>
      </p:sp>
      <p:sp>
        <p:nvSpPr>
          <p:cNvPr id="2" name="">
            <a:extLst xmlns:a="http://schemas.openxmlformats.org/drawingml/2006/main">
              <a:ext uri="{FF2B5EF4-FFF2-40B4-BE49-F238E27FC236}">
                <a16:creationId xmlns:a16="http://schemas.microsoft.com/office/drawing/2014/main" id="{09D06CA1-436F-46C3-BB5A-6BE9E5EAF680}"/>
              </a:ext>
            </a:extLst>
          </p:cNvPr>
          <p:cNvSpPr>
            <a:spLocks xmlns:a="http://schemas.openxmlformats.org/drawingml/2006/main" noGrp="1"/>
          </p:cNvSpPr>
          <p:nvPr/>
        </p:nvSpPr>
        <p:spPr>
          <a:xfrm xmlns:a="http://schemas.openxmlformats.org/drawingml/2006/main">
            <a:off x="685800" y="1590675"/>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5383D"/>
                </a:solidFill>
                <a:latin typeface="Helvetica Neue"/>
                <a:ea typeface="Helvetica Neue"/>
                <a:cs typeface="Helvetica Neue"/>
              </a:defRPr>
            </a:pPr>
            <a:r>
              <a:rPr sz="4800" b="1">
                <a:solidFill>
                  <a:srgbClr val="15383D"/>
                </a:solidFill>
                <a:latin typeface="Helvetica Neue"/>
                <a:ea typeface="Helvetica Neue"/>
                <a:cs typeface="Helvetica Neue"/>
              </a:rPr>
              <a:t>Your laptop, your project</a:t>
            </a:r>
          </a:p>
        </p:txBody>
      </p:sp>
      <p:sp>
        <p:nvSpPr>
          <p:cNvPr id="3" name="">
            <a:extLst xmlns:a="http://schemas.openxmlformats.org/drawingml/2006/main">
              <a:ext uri="{FF2B5EF4-FFF2-40B4-BE49-F238E27FC236}">
                <a16:creationId xmlns:a16="http://schemas.microsoft.com/office/drawing/2014/main" id="{EFBBEC43-B84C-47E1-8738-49808565410B}"/>
              </a:ext>
            </a:extLst>
          </p:cNvPr>
          <p:cNvSpPr>
            <a:spLocks xmlns:a="http://schemas.openxmlformats.org/drawingml/2006/main" noGrp="1"/>
          </p:cNvSpPr>
          <p:nvPr/>
        </p:nvSpPr>
        <p:spPr>
          <a:xfrm xmlns:a="http://schemas.openxmlformats.org/drawingml/2006/main">
            <a:off x="685800" y="3257550"/>
            <a:ext cx="952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383D"/>
                </a:solidFill>
                <a:latin typeface="Helvetica Neue"/>
                <a:ea typeface="Helvetica Neue"/>
                <a:cs typeface="Helvetica Neue"/>
              </a:defRPr>
            </a:pPr>
            <a:r>
              <a:rPr sz="2550" b="0">
                <a:solidFill>
                  <a:srgbClr val="15383D"/>
                </a:solidFill>
                <a:latin typeface="Helvetica Neue"/>
                <a:ea typeface="Helvetica Neue"/>
                <a:cs typeface="Helvetica Neue"/>
              </a:rPr>
              <a:t>The guide stays open beside your editor.</a:t>
            </a:r>
          </a:p>
        </p:txBody>
      </p:sp>
      <p:sp>
        <p:nvSpPr>
          <p:cNvPr id="4" name="">
            <a:extLst xmlns:a="http://schemas.openxmlformats.org/drawingml/2006/main">
              <a:ext uri="{FF2B5EF4-FFF2-40B4-BE49-F238E27FC236}">
                <a16:creationId xmlns:a16="http://schemas.microsoft.com/office/drawing/2014/main" id="{13D588E6-AF27-4FA4-8479-3AA1204785B7}"/>
              </a:ext>
            </a:extLst>
          </p:cNvPr>
          <p:cNvSpPr>
            <a:spLocks xmlns:a="http://schemas.openxmlformats.org/drawingml/2006/main" noGrp="1"/>
          </p:cNvSpPr>
          <p:nvPr/>
        </p:nvSpPr>
        <p:spPr>
          <a:xfrm xmlns:a="http://schemas.openxmlformats.org/drawingml/2006/main">
            <a:off x="685800" y="4114800"/>
            <a:ext cx="9525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466266"/>
                </a:solidFill>
                <a:latin typeface="Helvetica Neue"/>
                <a:ea typeface="Helvetica Neue"/>
                <a:cs typeface="Helvetica Neue"/>
              </a:defRPr>
            </a:pPr>
            <a:r>
              <a:rPr sz="2175" b="0">
                <a:solidFill>
                  <a:srgbClr val="466266"/>
                </a:solidFill>
                <a:latin typeface="Helvetica Neue"/>
                <a:ea typeface="Helvetica Neue"/>
                <a:cs typeface="Helvetica Neue"/>
              </a:rPr>
              <a:t>Type along or copy a working checkpoint.</a:t>
            </a:r>
          </a:p>
          <a:p xmlns:a="http://schemas.openxmlformats.org/drawingml/2006/main">
            <a:pPr>
              <a:defRPr sz="2175" b="0">
                <a:solidFill>
                  <a:srgbClr val="466266"/>
                </a:solidFill>
                <a:latin typeface="Helvetica Neue"/>
                <a:ea typeface="Helvetica Neue"/>
                <a:cs typeface="Helvetica Neue"/>
              </a:defRPr>
            </a:pPr>
            <a:r>
              <a:rPr sz="2175" b="0">
                <a:solidFill>
                  <a:srgbClr val="466266"/>
                </a:solidFill>
                <a:latin typeface="Helvetica Neue"/>
                <a:ea typeface="Helvetica Neue"/>
                <a:cs typeface="Helvetica Neue"/>
              </a:rPr>
              <a:t>Use Colab if setup gets in the way.</a:t>
            </a:r>
          </a:p>
        </p:txBody>
      </p:sp>
      <p:sp>
        <p:nvSpPr>
          <p:cNvPr id="5" name="">
            <a:extLst xmlns:a="http://schemas.openxmlformats.org/drawingml/2006/main">
              <a:ext uri="{FF2B5EF4-FFF2-40B4-BE49-F238E27FC236}">
                <a16:creationId xmlns:a16="http://schemas.microsoft.com/office/drawing/2014/main" id="{E3661376-C171-4525-A92E-FC03AE7BF3B9}"/>
              </a:ext>
            </a:extLst>
          </p:cNvPr>
          <p:cNvSpPr>
            <a:spLocks xmlns:a="http://schemas.openxmlformats.org/drawingml/2006/main" noGrp="1"/>
          </p:cNvSpPr>
          <p:nvPr/>
        </p:nvSpPr>
        <p:spPr>
          <a:xfrm xmlns:a="http://schemas.openxmlformats.org/drawingml/2006/main">
            <a:off x="10668000" y="6143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66266"/>
                </a:solidFill>
                <a:latin typeface="Helvetica Neue"/>
                <a:ea typeface="Helvetica Neue"/>
                <a:cs typeface="Helvetica Neue"/>
              </a:defRPr>
            </a:pPr>
            <a:r>
              <a:rPr sz="1350" b="0">
                <a:solidFill>
                  <a:srgbClr val="466266"/>
                </a:solidFill>
                <a:latin typeface="Helvetica Neue"/>
                <a:ea typeface="Helvetica Neue"/>
                <a:cs typeface="Helvetica Neue"/>
              </a:rPr>
              <a:t>3 / 4</a:t>
            </a:r>
          </a:p>
        </p:txBody>
      </p:sp>
    </p:spTree>
    <p:extLst>
      <p:ext uri="{BB962C8B-B14F-4D97-AF65-F5344CB8AC3E}">
        <p14:creationId xmlns:p14="http://schemas.microsoft.com/office/powerpoint/2010/main" val="1963431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B7C3BA-E078-4421-A8A8-5808EE7C695A}"/>
              </a:ext>
            </a:extLst>
          </p:cNvPr>
          <p:cNvSpPr>
            <a:spLocks xmlns:a="http://schemas.openxmlformats.org/drawingml/2006/main" noGrp="1"/>
          </p:cNvSpPr>
          <p:nvPr/>
        </p:nvSpPr>
        <p:spPr>
          <a:xfrm xmlns:a="http://schemas.openxmlformats.org/drawingml/2006/main">
            <a:off x="685800" y="5238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A80"/>
                </a:solidFill>
                <a:latin typeface="Helvetica Neue"/>
                <a:ea typeface="Helvetica Neue"/>
                <a:cs typeface="Helvetica Neue"/>
              </a:defRPr>
            </a:pPr>
            <a:r>
              <a:rPr sz="1650" b="1">
                <a:solidFill>
                  <a:srgbClr val="087A80"/>
                </a:solidFill>
                <a:latin typeface="Helvetica Neue"/>
                <a:ea typeface="Helvetica Neue"/>
                <a:cs typeface="Helvetica Neue"/>
              </a:rPr>
              <a:t>MISA  /  PYTHON WORKSHOP</a:t>
            </a:r>
          </a:p>
        </p:txBody>
      </p:sp>
      <p:sp>
        <p:nvSpPr>
          <p:cNvPr id="2" name="">
            <a:extLst xmlns:a="http://schemas.openxmlformats.org/drawingml/2006/main">
              <a:ext uri="{FF2B5EF4-FFF2-40B4-BE49-F238E27FC236}">
                <a16:creationId xmlns:a16="http://schemas.microsoft.com/office/drawing/2014/main" id="{AD9E3382-CFDA-4D76-BDD4-5DC4BD39CC49}"/>
              </a:ext>
            </a:extLst>
          </p:cNvPr>
          <p:cNvSpPr>
            <a:spLocks xmlns:a="http://schemas.openxmlformats.org/drawingml/2006/main" noGrp="1"/>
          </p:cNvSpPr>
          <p:nvPr/>
        </p:nvSpPr>
        <p:spPr>
          <a:xfrm xmlns:a="http://schemas.openxmlformats.org/drawingml/2006/main">
            <a:off x="685800" y="1590675"/>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5383D"/>
                </a:solidFill>
                <a:latin typeface="Helvetica Neue"/>
                <a:ea typeface="Helvetica Neue"/>
                <a:cs typeface="Helvetica Neue"/>
              </a:defRPr>
            </a:pPr>
            <a:r>
              <a:rPr sz="4800" b="1">
                <a:solidFill>
                  <a:srgbClr val="15383D"/>
                </a:solidFill>
                <a:latin typeface="Helvetica Neue"/>
                <a:ea typeface="Helvetica Neue"/>
                <a:cs typeface="Helvetica Neue"/>
              </a:rPr>
              <a:t>What will you make next?</a:t>
            </a:r>
          </a:p>
        </p:txBody>
      </p:sp>
      <p:sp>
        <p:nvSpPr>
          <p:cNvPr id="3" name="">
            <a:extLst xmlns:a="http://schemas.openxmlformats.org/drawingml/2006/main">
              <a:ext uri="{FF2B5EF4-FFF2-40B4-BE49-F238E27FC236}">
                <a16:creationId xmlns:a16="http://schemas.microsoft.com/office/drawing/2014/main" id="{15B75E34-4433-4C8C-8FBB-320DC2CA7E22}"/>
              </a:ext>
            </a:extLst>
          </p:cNvPr>
          <p:cNvSpPr>
            <a:spLocks xmlns:a="http://schemas.openxmlformats.org/drawingml/2006/main" noGrp="1"/>
          </p:cNvSpPr>
          <p:nvPr/>
        </p:nvSpPr>
        <p:spPr>
          <a:xfrm xmlns:a="http://schemas.openxmlformats.org/drawingml/2006/main">
            <a:off x="685800" y="3257550"/>
            <a:ext cx="952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383D"/>
                </a:solidFill>
                <a:latin typeface="Helvetica Neue"/>
                <a:ea typeface="Helvetica Neue"/>
                <a:cs typeface="Helvetica Neue"/>
              </a:defRPr>
            </a:pPr>
            <a:r>
              <a:rPr sz="2550" b="0">
                <a:solidFill>
                  <a:srgbClr val="15383D"/>
                </a:solidFill>
                <a:latin typeface="Helvetica Neue"/>
                <a:ea typeface="Helvetica Neue"/>
                <a:cs typeface="Helvetica Neue"/>
              </a:rPr>
              <a:t>Let a friend try your quiz.</a:t>
            </a:r>
          </a:p>
        </p:txBody>
      </p:sp>
      <p:sp>
        <p:nvSpPr>
          <p:cNvPr id="4" name="">
            <a:extLst xmlns:a="http://schemas.openxmlformats.org/drawingml/2006/main">
              <a:ext uri="{FF2B5EF4-FFF2-40B4-BE49-F238E27FC236}">
                <a16:creationId xmlns:a16="http://schemas.microsoft.com/office/drawing/2014/main" id="{3D04B27D-18CA-4B9F-928C-DA2A010A0B42}"/>
              </a:ext>
            </a:extLst>
          </p:cNvPr>
          <p:cNvSpPr>
            <a:spLocks xmlns:a="http://schemas.openxmlformats.org/drawingml/2006/main" noGrp="1"/>
          </p:cNvSpPr>
          <p:nvPr/>
        </p:nvSpPr>
        <p:spPr>
          <a:xfrm xmlns:a="http://schemas.openxmlformats.org/drawingml/2006/main">
            <a:off x="685800" y="4114800"/>
            <a:ext cx="9525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466266"/>
                </a:solidFill>
                <a:latin typeface="Helvetica Neue"/>
                <a:ea typeface="Helvetica Neue"/>
                <a:cs typeface="Helvetica Neue"/>
              </a:defRPr>
            </a:pPr>
            <a:r>
              <a:rPr sz="2175" b="0">
                <a:solidFill>
                  <a:srgbClr val="466266"/>
                </a:solidFill>
                <a:latin typeface="Helvetica Neue"/>
                <a:ea typeface="Helvetica Neue"/>
                <a:cs typeface="Helvetica Neue"/>
              </a:rPr>
              <a:t>Change one question.</a:t>
            </a:r>
          </a:p>
          <a:p xmlns:a="http://schemas.openxmlformats.org/drawingml/2006/main">
            <a:pPr>
              <a:defRPr sz="2175" b="0">
                <a:solidFill>
                  <a:srgbClr val="466266"/>
                </a:solidFill>
                <a:latin typeface="Helvetica Neue"/>
                <a:ea typeface="Helvetica Neue"/>
                <a:cs typeface="Helvetica Neue"/>
              </a:defRPr>
            </a:pPr>
            <a:r>
              <a:rPr sz="2175" b="0">
                <a:solidFill>
                  <a:srgbClr val="466266"/>
                </a:solidFill>
                <a:latin typeface="Helvetica Neue"/>
                <a:ea typeface="Helvetica Neue"/>
                <a:cs typeface="Helvetica Neue"/>
              </a:rPr>
              <a:t>Ask MISA about a project you could join.</a:t>
            </a:r>
          </a:p>
        </p:txBody>
      </p:sp>
      <p:sp>
        <p:nvSpPr>
          <p:cNvPr id="5" name="">
            <a:extLst xmlns:a="http://schemas.openxmlformats.org/drawingml/2006/main">
              <a:ext uri="{FF2B5EF4-FFF2-40B4-BE49-F238E27FC236}">
                <a16:creationId xmlns:a16="http://schemas.microsoft.com/office/drawing/2014/main" id="{E0F0D31E-6B1F-4F49-A2B9-5551CB914F80}"/>
              </a:ext>
            </a:extLst>
          </p:cNvPr>
          <p:cNvSpPr>
            <a:spLocks xmlns:a="http://schemas.openxmlformats.org/drawingml/2006/main" noGrp="1"/>
          </p:cNvSpPr>
          <p:nvPr/>
        </p:nvSpPr>
        <p:spPr>
          <a:xfrm xmlns:a="http://schemas.openxmlformats.org/drawingml/2006/main">
            <a:off x="10668000" y="6143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66266"/>
                </a:solidFill>
                <a:latin typeface="Helvetica Neue"/>
                <a:ea typeface="Helvetica Neue"/>
                <a:cs typeface="Helvetica Neue"/>
              </a:defRPr>
            </a:pPr>
            <a:r>
              <a:rPr sz="1350" b="0">
                <a:solidFill>
                  <a:srgbClr val="466266"/>
                </a:solidFill>
                <a:latin typeface="Helvetica Neue"/>
                <a:ea typeface="Helvetica Neue"/>
                <a:cs typeface="Helvetica Neue"/>
              </a:rPr>
              <a:t>4 / 4</a:t>
            </a:r>
          </a:p>
        </p:txBody>
      </p:sp>
    </p:spTree>
    <p:extLst>
      <p:ext uri="{BB962C8B-B14F-4D97-AF65-F5344CB8AC3E}">
        <p14:creationId xmlns:p14="http://schemas.microsoft.com/office/powerpoint/2010/main" val="1438257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2026-09-05T13:23:36.7180000Z</dcterms:created>
  <dcterms:modified xsi:type="dcterms:W3CDTF">2026-09-05T13:23:36.7180000Z</dcterms:modified>
</coreProperties>
</file>